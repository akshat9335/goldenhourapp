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60" r:id="rId4"/>
    <p:sldId id="261" r:id="rId5"/>
    <p:sldId id="263" r:id="rId6"/>
    <p:sldId id="259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3:52:37.2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 24575,'10802'0'0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13:52:43.5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45 24575,'4'0'0,"1"-4"0,4-1 0,4 0 0,0-3 0,1 0 0,3 2 0,2 1 0,2 2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953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10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jpe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Relationship Id="rId9" Type="http://schemas.openxmlformats.org/officeDocument/2006/relationships/hyperlink" Target="https://drive.google.com/file/d/1DjNVllfmDO0dMCmqSco1yLzNUFJ_s1Ie/view?usp=drivesdk" TargetMode="External"/><Relationship Id="rId10" Type="http://schemas.openxmlformats.org/officeDocument/2006/relationships/hyperlink" Target="https://youtu.be/xpn0V2G659g?si=DTu2QmqTG9jVX1Li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e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5.jpeg"/><Relationship Id="rId7" Type="http://schemas.openxmlformats.org/officeDocument/2006/relationships/customXml" Target="../ink/ink1.xml"/><Relationship Id="rId8" Type="http://schemas.openxmlformats.org/officeDocument/2006/relationships/image" Target="../media/image16.png"/><Relationship Id="rId9" Type="http://schemas.openxmlformats.org/officeDocument/2006/relationships/customXml" Target="../ink/ink2.xml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ih.gov.in/?utm_source=chatgpt.com" TargetMode="External"/><Relationship Id="rId4" Type="http://schemas.openxmlformats.org/officeDocument/2006/relationships/hyperlink" Target="https://abdm.gov.in/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6.png"/><Relationship Id="rId8" Type="http://schemas.openxmlformats.org/officeDocument/2006/relationships/image" Target="../media/image23.jpeg"/><Relationship Id="rId9" Type="http://schemas.openxmlformats.org/officeDocument/2006/relationships/image" Target="../media/image24.jpeg"/><Relationship Id="rId10" Type="http://schemas.openxmlformats.org/officeDocument/2006/relationships/hyperlink" Target="https://drive.google.com/file/d/1DjNVllfmDO0dMCmqSco1yLzNUFJ_s1Ie/view?usp=drivesdk" TargetMode="External"/><Relationship Id="rId11" Type="http://schemas.openxmlformats.org/officeDocument/2006/relationships/hyperlink" Target="https://drive.google.com/file/d/13T6n8MtCcO78936hAwHKXWWar8z5qT0l/view?usp=drivesdk" TargetMode="External"/><Relationship Id="rId12" Type="http://schemas.openxmlformats.org/officeDocument/2006/relationships/hyperlink" Target="https://github.com/akshat9335/GoldenHourApp.git" TargetMode="External"/><Relationship Id="rId13" Type="http://schemas.openxmlformats.org/officeDocument/2006/relationships/hyperlink" Target="https://www.sih.gov.in/" TargetMode="External"/><Relationship Id="rId14" Type="http://schemas.openxmlformats.org/officeDocument/2006/relationships/hyperlink" Target="https://www.clinicalestablishments.mohfw.gov.in/en/standard-treatment-guidelines" TargetMode="External"/><Relationship Id="rId15" Type="http://schemas.openxmlformats.org/officeDocument/2006/relationships/hyperlink" Target="https://esanjeevani.mohfw.gov.in/assets/guidelines/Telemedicine_Practice_Guidelines.pdf" TargetMode="External"/><Relationship Id="rId16" Type="http://schemas.openxmlformats.org/officeDocument/2006/relationships/hyperlink" Target="https://iphs.mohfw.gov.in/" TargetMode="External"/><Relationship Id="rId17" Type="http://schemas.openxmlformats.org/officeDocument/2006/relationships/hyperlink" Target="https://www.mohfw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57764-B63A-87E7-1A68-849BEA551FA1}"/>
              </a:ext>
            </a:extLst>
          </p:cNvPr>
          <p:cNvSpPr txBox="1"/>
          <p:nvPr/>
        </p:nvSpPr>
        <p:spPr>
          <a:xfrm>
            <a:off x="1188720" y="868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b="1" sz="4000">
                <a:solidFill>
                  <a:srgbClr val="F59E0B"/>
                </a:solidFill>
                <a:latin typeface="Calibri"/>
              </a:rPr>
              <a:t>Golden </a:t>
            </a:r>
            <a:r>
              <a:rPr b="1" sz="4000">
                <a:solidFill>
                  <a:srgbClr val="002060"/>
                </a:solidFill>
                <a:latin typeface="Calibri"/>
              </a:rPr>
              <a:t>Hour</a:t>
            </a:r>
            <a:endParaRPr lang="en-US" sz="444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33CC3F-9A10-7D78-EA62-24DE6DB4A8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72" t="11238" r="8455" b="14942"/>
          <a:stretch>
            <a:fillRect/>
          </a:stretch>
        </p:blipFill>
        <p:spPr>
          <a:xfrm>
            <a:off x="457200" y="960120"/>
            <a:ext cx="640080" cy="6400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1097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002060"/>
                </a:solidFill>
                <a:latin typeface="Calibri"/>
              </a:rPr>
              <a:t>STARTUP CONFLUENCE 2026   </a:t>
            </a:r>
            <a:r>
              <a:rPr b="0" sz="1600">
                <a:solidFill>
                  <a:srgbClr val="64748B"/>
                </a:solidFill>
                <a:latin typeface="Calibri"/>
              </a:rPr>
              <a:t>|   INNOVATION &amp; INVESTOR PITCH DECK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164592"/>
            <a:ext cx="2103120" cy="365760"/>
          </a:xfrm>
          <a:prstGeom prst="roundRect">
            <a:avLst/>
          </a:prstGeom>
          <a:solidFill>
            <a:srgbClr val="E1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07848"/>
                </a:solidFill>
                <a:latin typeface="Calibri"/>
              </a:rPr>
              <a:t>STAGE: MVP READY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1737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400">
                <a:solidFill>
                  <a:srgbClr val="475569"/>
                </a:solidFill>
                <a:latin typeface="Calibri"/>
              </a:rPr>
              <a:t>AI-Powered Emergency Care Coordination &amp; Connected Healthcare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3774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400">
                <a:solidFill>
                  <a:srgbClr val="002060"/>
                </a:solidFill>
                <a:latin typeface="Calibri"/>
              </a:rPr>
              <a:t>•  </a:t>
            </a:r>
            <a:r>
              <a:rPr b="1" sz="1300">
                <a:solidFill>
                  <a:srgbClr val="002060"/>
                </a:solidFill>
                <a:latin typeface="Calibri"/>
              </a:rPr>
              <a:t>Industry / Domain  :  </a:t>
            </a:r>
            <a:r>
              <a:rPr b="0" sz="1300">
                <a:solidFill>
                  <a:srgbClr val="1E293B"/>
                </a:solidFill>
                <a:latin typeface="Calibri"/>
              </a:rPr>
              <a:t>HealthTech  •  Emergency Response  •  B2B/B2G SaaS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400">
                <a:solidFill>
                  <a:srgbClr val="002060"/>
                </a:solidFill>
                <a:latin typeface="Calibri"/>
              </a:rPr>
              <a:t>•  </a:t>
            </a:r>
            <a:r>
              <a:rPr b="1" sz="1300">
                <a:solidFill>
                  <a:srgbClr val="002060"/>
                </a:solidFill>
                <a:latin typeface="Calibri"/>
              </a:rPr>
              <a:t>Target Market      :  </a:t>
            </a:r>
            <a:r>
              <a:rPr b="0" sz="1300">
                <a:solidFill>
                  <a:srgbClr val="1E293B"/>
                </a:solidFill>
                <a:latin typeface="Calibri"/>
              </a:rPr>
              <a:t>50,000+ Rural/Semi-Urban PHCs &amp; 70,000+ Private Hospitals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400">
                <a:solidFill>
                  <a:srgbClr val="002060"/>
                </a:solidFill>
                <a:latin typeface="Calibri"/>
              </a:rPr>
              <a:t>•  </a:t>
            </a:r>
            <a:r>
              <a:rPr b="1" sz="1300">
                <a:solidFill>
                  <a:srgbClr val="002060"/>
                </a:solidFill>
                <a:latin typeface="Calibri"/>
              </a:rPr>
              <a:t>Core Innovation    :  </a:t>
            </a:r>
            <a:r>
              <a:rPr b="0" sz="1300">
                <a:solidFill>
                  <a:srgbClr val="1E293B"/>
                </a:solidFill>
                <a:latin typeface="Calibri"/>
              </a:rPr>
              <a:t>Multilingual Voice AI Triage, Live Telemetry &amp; ABDM Sync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400">
                <a:solidFill>
                  <a:srgbClr val="002060"/>
                </a:solidFill>
                <a:latin typeface="Calibri"/>
              </a:rPr>
              <a:t>•  </a:t>
            </a:r>
            <a:r>
              <a:rPr b="1" sz="1300">
                <a:solidFill>
                  <a:srgbClr val="002060"/>
                </a:solidFill>
                <a:latin typeface="Calibri"/>
              </a:rPr>
              <a:t>Product Stage      :  </a:t>
            </a:r>
            <a:r>
              <a:rPr b="0" sz="1300">
                <a:solidFill>
                  <a:srgbClr val="1E293B"/>
                </a:solidFill>
                <a:latin typeface="Calibri"/>
              </a:rPr>
              <a:t>Fully Functional MVP (Android APK + Cloud Telemetry Engine)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400">
                <a:solidFill>
                  <a:srgbClr val="002060"/>
                </a:solidFill>
                <a:latin typeface="Calibri"/>
              </a:rPr>
              <a:t>•  </a:t>
            </a:r>
            <a:r>
              <a:rPr b="1" sz="1300">
                <a:solidFill>
                  <a:srgbClr val="002060"/>
                </a:solidFill>
                <a:latin typeface="Calibri"/>
              </a:rPr>
              <a:t>Founder &amp; Lead     :  </a:t>
            </a:r>
            <a:r>
              <a:rPr b="0" sz="1300">
                <a:solidFill>
                  <a:srgbClr val="1E293B"/>
                </a:solidFill>
                <a:latin typeface="Calibri"/>
              </a:rPr>
              <a:t>Akshat Srivastava (Founder &amp; Lead Developer)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400">
                <a:solidFill>
                  <a:srgbClr val="002060"/>
                </a:solidFill>
                <a:latin typeface="Calibri"/>
              </a:rPr>
              <a:t>•  </a:t>
            </a:r>
            <a:r>
              <a:rPr b="1" sz="1300">
                <a:solidFill>
                  <a:srgbClr val="002060"/>
                </a:solidFill>
                <a:latin typeface="Calibri"/>
              </a:rPr>
              <a:t>Team Name          :  </a:t>
            </a:r>
            <a:r>
              <a:rPr b="0" sz="1300">
                <a:solidFill>
                  <a:srgbClr val="1E293B"/>
                </a:solidFill>
                <a:latin typeface="Calibri"/>
              </a:rPr>
              <a:t>Life Line Coders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400">
                <a:solidFill>
                  <a:srgbClr val="002060"/>
                </a:solidFill>
                <a:latin typeface="Calibri"/>
              </a:rPr>
              <a:t>•  </a:t>
            </a:r>
            <a:r>
              <a:rPr b="1" sz="1300">
                <a:solidFill>
                  <a:srgbClr val="002060"/>
                </a:solidFill>
                <a:latin typeface="Calibri"/>
              </a:rPr>
              <a:t>Key Deliverables   :  </a:t>
            </a:r>
            <a:r>
              <a:rPr b="0" sz="1300">
                <a:solidFill>
                  <a:srgbClr val="1E293B"/>
                </a:solidFill>
                <a:latin typeface="Calibri"/>
              </a:rPr>
              <a:t>Working APK  |  Demo Video  |  User Manual  |  GitHub Code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17920"/>
            <a:ext cx="621792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Contact: akshatsrivastava912@gmail.com   |   GitHub: akshat9335/GoldenHourApp</a:t>
            </a:r>
          </a:p>
        </p:txBody>
      </p:sp>
      <p:pic>
        <p:nvPicPr>
          <p:cNvPr id="43" name="Picture 42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868680"/>
            <a:ext cx="47548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33295" y="422726"/>
            <a:ext cx="6053807" cy="944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4058469" y="0"/>
            <a:ext cx="3200392" cy="68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440"/>
          </a:p>
        </p:txBody>
      </p:sp>
      <p:sp>
        <p:nvSpPr>
          <p:cNvPr id="8" name="Shape 6"/>
          <p:cNvSpPr/>
          <p:nvPr/>
        </p:nvSpPr>
        <p:spPr>
          <a:xfrm>
            <a:off x="344143" y="1152514"/>
            <a:ext cx="365759" cy="365759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 flipH="1">
            <a:off x="481303" y="894875"/>
            <a:ext cx="45719" cy="68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4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!</a:t>
            </a:r>
            <a:endParaRPr lang="en-US" sz="2040"/>
          </a:p>
        </p:txBody>
      </p:sp>
      <p:sp>
        <p:nvSpPr>
          <p:cNvPr id="10" name="Text 8"/>
          <p:cNvSpPr txBox="1"/>
          <p:nvPr/>
        </p:nvSpPr>
        <p:spPr>
          <a:xfrm>
            <a:off x="801810" y="1153106"/>
            <a:ext cx="2590794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20" b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20">
              <a:solidFill>
                <a:srgbClr val="FF000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020" y="4749683"/>
            <a:ext cx="2980350" cy="1333497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 w="25400">
            <a:solidFill>
              <a:srgbClr val="F5B30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2837" y="5091416"/>
            <a:ext cx="2666993" cy="83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move between healthcare services without </a:t>
            </a:r>
            <a:r>
              <a:rPr lang="en-US" sz="1380" b="1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care journey.</a:t>
            </a:r>
            <a:endParaRPr lang="en-US" sz="1380"/>
          </a:p>
        </p:txBody>
      </p:sp>
      <p:sp>
        <p:nvSpPr>
          <p:cNvPr id="31" name="Text 29"/>
          <p:cNvSpPr txBox="1"/>
          <p:nvPr/>
        </p:nvSpPr>
        <p:spPr>
          <a:xfrm>
            <a:off x="4114799" y="1143891"/>
            <a:ext cx="4187551" cy="3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HOUR: The Complete Care Solution</a:t>
            </a:r>
            <a:endParaRPr lang="en-US" sz="1680">
              <a:solidFill>
                <a:srgbClr val="92D050"/>
              </a:solidFill>
            </a:endParaRPr>
          </a:p>
        </p:txBody>
      </p:sp>
      <p:sp>
        <p:nvSpPr>
          <p:cNvPr id="72" name="Text 70"/>
          <p:cNvSpPr txBox="1"/>
          <p:nvPr/>
        </p:nvSpPr>
        <p:spPr>
          <a:xfrm>
            <a:off x="9182132" y="1152514"/>
            <a:ext cx="3352792" cy="3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20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62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0" name="Text 88"/>
          <p:cNvSpPr txBox="1"/>
          <p:nvPr/>
        </p:nvSpPr>
        <p:spPr>
          <a:xfrm>
            <a:off x="5715783" y="3725813"/>
            <a:ext cx="472439" cy="47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80"/>
          </a:p>
        </p:txBody>
      </p:sp>
      <p:sp>
        <p:nvSpPr>
          <p:cNvPr id="103" name="Shape 101"/>
          <p:cNvSpPr/>
          <p:nvPr/>
        </p:nvSpPr>
        <p:spPr>
          <a:xfrm>
            <a:off x="-6824" y="6443708"/>
            <a:ext cx="12198823" cy="427082"/>
          </a:xfrm>
          <a:prstGeom prst="roundRect">
            <a:avLst>
              <a:gd name="adj" fmla="val 21875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139599" y="6489791"/>
            <a:ext cx="9905975" cy="38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</a:t>
            </a:r>
            <a:r>
              <a:rPr lang="en-US" sz="15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just respond to emergencies — </a:t>
            </a:r>
            <a:r>
              <a:rPr lang="en-US" sz="1500" b="1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the complete healthcare journey.</a:t>
            </a:r>
            <a:endParaRPr lang="en-US" sz="150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EAA3AF7-AACA-7A27-B941-BCC6F4D26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1"/>
          <a:stretch>
            <a:fillRect/>
          </a:stretch>
        </p:blipFill>
        <p:spPr>
          <a:xfrm>
            <a:off x="8646585" y="1669804"/>
            <a:ext cx="3498368" cy="4348941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732345F9-112E-C2F5-DAAC-CB9D4AAA5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79" y="1580673"/>
            <a:ext cx="2765573" cy="2860571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1B2A415A-4C5B-D251-9CB0-AF4EB8BB17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53" y="34839"/>
            <a:ext cx="1569717" cy="657539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8C1D0E40-CEFA-C856-BE8D-3A8281533ABA}"/>
              </a:ext>
            </a:extLst>
          </p:cNvPr>
          <p:cNvSpPr txBox="1"/>
          <p:nvPr/>
        </p:nvSpPr>
        <p:spPr>
          <a:xfrm>
            <a:off x="4092177" y="-106804"/>
            <a:ext cx="6207210" cy="77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4440" b="1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</a:t>
            </a:r>
            <a:r>
              <a:rPr lang="en-US" sz="4440" b="1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444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2F52E-22C2-0A33-731A-3FB88E5B4A9E}"/>
              </a:ext>
            </a:extLst>
          </p:cNvPr>
          <p:cNvSpPr txBox="1"/>
          <p:nvPr/>
        </p:nvSpPr>
        <p:spPr>
          <a:xfrm>
            <a:off x="2593939" y="2446633"/>
            <a:ext cx="6273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9FC51EA-4878-1C45-D198-E592435B817A}"/>
              </a:ext>
            </a:extLst>
          </p:cNvPr>
          <p:cNvSpPr/>
          <p:nvPr/>
        </p:nvSpPr>
        <p:spPr>
          <a:xfrm>
            <a:off x="3624212" y="1135529"/>
            <a:ext cx="365759" cy="382744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r>
              <a:rPr lang="en-IN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E2B73C1-327A-E9EC-7E29-18FECE1D1B3F}"/>
              </a:ext>
            </a:extLst>
          </p:cNvPr>
          <p:cNvSpPr/>
          <p:nvPr/>
        </p:nvSpPr>
        <p:spPr>
          <a:xfrm>
            <a:off x="8646585" y="1087197"/>
            <a:ext cx="472728" cy="394235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1839E9-514B-DD9D-EF37-80A5C7B24173}"/>
              </a:ext>
            </a:extLst>
          </p:cNvPr>
          <p:cNvSpPr txBox="1"/>
          <p:nvPr/>
        </p:nvSpPr>
        <p:spPr>
          <a:xfrm>
            <a:off x="8695150" y="1486039"/>
            <a:ext cx="185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AD8E47BA-AEA7-D89D-9E01-B02E41BEBB2A}"/>
              </a:ext>
            </a:extLst>
          </p:cNvPr>
          <p:cNvSpPr/>
          <p:nvPr/>
        </p:nvSpPr>
        <p:spPr>
          <a:xfrm>
            <a:off x="8745697" y="1154928"/>
            <a:ext cx="273242" cy="248309"/>
          </a:xfrm>
          <a:prstGeom prst="star5">
            <a:avLst>
              <a:gd name="adj" fmla="val 31321"/>
              <a:gd name="hf" fmla="val 105146"/>
              <a:gd name="vf" fmla="val 110557"/>
            </a:avLst>
          </a:prstGeom>
          <a:solidFill>
            <a:schemeClr val="bg2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2"/>
              </a:solidFill>
            </a:endParaRPr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E59FA07F-52D0-787A-A81B-5362C6D350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" y="41118"/>
            <a:ext cx="1247052" cy="6583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Life Line Coders</a:t>
            </a:r>
            <a:endParaRPr lang="en-IN" sz="16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74224C-02B1-62A9-8301-1281DF4522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172" t="11238" r="8455" b="14942"/>
          <a:stretch>
            <a:fillRect/>
          </a:stretch>
        </p:blipFill>
        <p:spPr>
          <a:xfrm>
            <a:off x="3565321" y="52825"/>
            <a:ext cx="639579" cy="477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191B92-D5B9-E29F-2838-CD1E0228A01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644" t="8626" r="1266" b="4987"/>
          <a:stretch>
            <a:fillRect/>
          </a:stretch>
        </p:blipFill>
        <p:spPr>
          <a:xfrm>
            <a:off x="3642260" y="1518273"/>
            <a:ext cx="4548453" cy="49099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347444" y="68619"/>
            <a:ext cx="5186760" cy="36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endParaRPr lang="en-US" sz="3200"/>
          </a:p>
        </p:txBody>
      </p:sp>
      <p:sp>
        <p:nvSpPr>
          <p:cNvPr id="83" name="Text 81"/>
          <p:cNvSpPr txBox="1"/>
          <p:nvPr/>
        </p:nvSpPr>
        <p:spPr>
          <a:xfrm>
            <a:off x="3733791" y="4229089"/>
            <a:ext cx="2285994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WORKFLOW</a:t>
            </a:r>
            <a:endParaRPr lang="en-US" sz="900"/>
          </a:p>
        </p:txBody>
      </p:sp>
      <p:sp>
        <p:nvSpPr>
          <p:cNvPr id="162" name="Shape 160"/>
          <p:cNvSpPr/>
          <p:nvPr/>
        </p:nvSpPr>
        <p:spPr>
          <a:xfrm>
            <a:off x="7517807" y="4944056"/>
            <a:ext cx="4639874" cy="1532538"/>
          </a:xfrm>
          <a:prstGeom prst="roundRect">
            <a:avLst>
              <a:gd name="adj" fmla="val 5952"/>
            </a:avLst>
          </a:prstGeom>
          <a:solidFill>
            <a:srgbClr val="FFF6DC"/>
          </a:solidFill>
          <a:ln/>
        </p:spPr>
        <p:txBody>
          <a:bodyPr/>
          <a:lstStyle/>
          <a:p>
            <a:r>
              <a:rPr lang="en-US" sz="1600" b="1">
                <a:solidFill>
                  <a:srgbClr val="0B2A5B"/>
                </a:solidFill>
                <a:ea typeface="Calibri" pitchFamily="34" charset="-122"/>
                <a:cs typeface="Calibri" pitchFamily="34" charset="-120"/>
              </a:rPr>
              <a:t>                         </a:t>
            </a:r>
            <a:endParaRPr lang="en-US" sz="1600"/>
          </a:p>
        </p:txBody>
      </p:sp>
      <p:sp>
        <p:nvSpPr>
          <p:cNvPr id="165" name="Text 163"/>
          <p:cNvSpPr txBox="1"/>
          <p:nvPr/>
        </p:nvSpPr>
        <p:spPr>
          <a:xfrm>
            <a:off x="9059030" y="4946461"/>
            <a:ext cx="1371597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" b="1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40"/>
          </a:p>
        </p:txBody>
      </p:sp>
      <p:sp>
        <p:nvSpPr>
          <p:cNvPr id="166" name="Text 164"/>
          <p:cNvSpPr txBox="1"/>
          <p:nvPr/>
        </p:nvSpPr>
        <p:spPr>
          <a:xfrm>
            <a:off x="8777175" y="5855486"/>
            <a:ext cx="1447796" cy="861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1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to watch</a:t>
            </a:r>
            <a:endParaRPr lang="en-US" sz="900" b="1">
              <a:solidFill>
                <a:srgbClr val="010000"/>
              </a:solidFill>
            </a:endParaRPr>
          </a:p>
          <a:p>
            <a:pPr marL="0" indent="0" algn="ctr">
              <a:buNone/>
            </a:pPr>
            <a:r>
              <a:rPr lang="en-US" sz="900" b="1">
                <a:solidFill>
                  <a:srgbClr val="01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prototype</a:t>
            </a:r>
            <a:endParaRPr lang="en-US" sz="900" b="1">
              <a:solidFill>
                <a:srgbClr val="010000"/>
              </a:solidFill>
            </a:endParaRPr>
          </a:p>
        </p:txBody>
      </p:sp>
      <p:sp>
        <p:nvSpPr>
          <p:cNvPr id="168" name="Text 166"/>
          <p:cNvSpPr txBox="1"/>
          <p:nvPr/>
        </p:nvSpPr>
        <p:spPr>
          <a:xfrm>
            <a:off x="8618086" y="5354249"/>
            <a:ext cx="784828" cy="56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40"/>
          </a:p>
        </p:txBody>
      </p:sp>
      <p:sp>
        <p:nvSpPr>
          <p:cNvPr id="169" name="Text 167"/>
          <p:cNvSpPr txBox="1"/>
          <p:nvPr/>
        </p:nvSpPr>
        <p:spPr>
          <a:xfrm>
            <a:off x="10176365" y="5018304"/>
            <a:ext cx="22859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FLOW</a:t>
            </a:r>
            <a:endParaRPr lang="en-US" sz="1100"/>
          </a:p>
        </p:txBody>
      </p:sp>
      <p:sp>
        <p:nvSpPr>
          <p:cNvPr id="195" name="Shape 193"/>
          <p:cNvSpPr/>
          <p:nvPr/>
        </p:nvSpPr>
        <p:spPr>
          <a:xfrm>
            <a:off x="1" y="6480013"/>
            <a:ext cx="12192000" cy="377987"/>
          </a:xfrm>
          <a:prstGeom prst="roundRect">
            <a:avLst>
              <a:gd name="adj" fmla="val 27273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6" name="Text 194"/>
          <p:cNvSpPr txBox="1"/>
          <p:nvPr/>
        </p:nvSpPr>
        <p:spPr>
          <a:xfrm>
            <a:off x="228425" y="6522721"/>
            <a:ext cx="8305779" cy="335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 |   Role-Based Workflows  →  AI-Assisted Triage  →  Cloud-Backed Coordination  →  Real-Time Notifications</a:t>
            </a:r>
            <a:endParaRPr lang="en-US" sz="1100"/>
          </a:p>
        </p:txBody>
      </p:sp>
      <p:sp>
        <p:nvSpPr>
          <p:cNvPr id="197" name="Text 195"/>
          <p:cNvSpPr txBox="1"/>
          <p:nvPr/>
        </p:nvSpPr>
        <p:spPr>
          <a:xfrm>
            <a:off x="9372576" y="6564614"/>
            <a:ext cx="2476493" cy="335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People</a:t>
            </a:r>
            <a:r>
              <a:rPr lang="en-US" sz="9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      </a:t>
            </a:r>
            <a:r>
              <a:rPr lang="en-US" sz="9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Care</a:t>
            </a:r>
            <a:r>
              <a:rPr lang="en-US" sz="9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9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Time</a:t>
            </a:r>
            <a:endParaRPr lang="en-US" sz="900" b="1">
              <a:solidFill>
                <a:schemeClr val="accent4">
                  <a:lumMod val="60000"/>
                  <a:lumOff val="40000"/>
                </a:schemeClr>
              </a:solidFill>
              <a:highlight>
                <a:srgbClr val="FFFF00"/>
              </a:highlight>
            </a:endParaRPr>
          </a:p>
          <a:p>
            <a:pPr marL="0" indent="0" algn="l">
              <a:buNone/>
            </a:pPr>
            <a:r>
              <a:rPr lang="en-US" sz="900" b="1">
                <a:solidFill>
                  <a:srgbClr val="F5B301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900">
              <a:highlight>
                <a:srgbClr val="FFFF00"/>
              </a:highlight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84F85989-5A3F-7582-3363-B30437372C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53" y="34839"/>
            <a:ext cx="1569717" cy="657539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03C70250-279A-990F-A2AE-D4CF0B4B85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" y="41118"/>
            <a:ext cx="1247052" cy="6583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Life Line Coders</a:t>
            </a:r>
            <a:endParaRPr lang="en-IN" sz="1600"/>
          </a:p>
        </p:txBody>
      </p:sp>
      <p:sp>
        <p:nvSpPr>
          <p:cNvPr id="9" name="Text 166">
            <a:extLst>
              <a:ext uri="{FF2B5EF4-FFF2-40B4-BE49-F238E27FC236}">
                <a16:creationId xmlns:a16="http://schemas.microsoft.com/office/drawing/2014/main" id="{65035F76-F6C0-C7C0-7297-20CA27634CD6}"/>
              </a:ext>
            </a:extLst>
          </p:cNvPr>
          <p:cNvSpPr txBox="1"/>
          <p:nvPr/>
        </p:nvSpPr>
        <p:spPr>
          <a:xfrm>
            <a:off x="8770486" y="5506649"/>
            <a:ext cx="784828" cy="569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4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EF13DC-3876-1556-2618-1155A293FA0E}"/>
              </a:ext>
            </a:extLst>
          </p:cNvPr>
          <p:cNvSpPr txBox="1"/>
          <p:nvPr/>
        </p:nvSpPr>
        <p:spPr>
          <a:xfrm>
            <a:off x="6346630" y="4951048"/>
            <a:ext cx="1371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sp>
        <p:nvSpPr>
          <p:cNvPr id="12" name="Text 163">
            <a:extLst>
              <a:ext uri="{FF2B5EF4-FFF2-40B4-BE49-F238E27FC236}">
                <a16:creationId xmlns:a16="http://schemas.microsoft.com/office/drawing/2014/main" id="{235EEC7D-99C9-CC11-2F60-1E874DE94A67}"/>
              </a:ext>
            </a:extLst>
          </p:cNvPr>
          <p:cNvSpPr txBox="1"/>
          <p:nvPr/>
        </p:nvSpPr>
        <p:spPr>
          <a:xfrm>
            <a:off x="7910334" y="4938385"/>
            <a:ext cx="1371597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40" b="1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</a:t>
            </a:r>
            <a:r>
              <a:rPr lang="en-US" sz="1440" b="1">
                <a:solidFill>
                  <a:srgbClr val="0B2A5B"/>
                </a:solidFill>
                <a:ea typeface="Calibri" pitchFamily="34" charset="-122"/>
                <a:cs typeface="Calibri" pitchFamily="34" charset="-120"/>
              </a:rPr>
              <a:t>APP</a:t>
            </a:r>
            <a:endParaRPr lang="en-US" sz="144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F3CA3D-D3C4-59CA-3B7B-7631CA187932}"/>
              </a:ext>
            </a:extLst>
          </p:cNvPr>
          <p:cNvSpPr txBox="1"/>
          <p:nvPr/>
        </p:nvSpPr>
        <p:spPr>
          <a:xfrm>
            <a:off x="7631607" y="6113665"/>
            <a:ext cx="1224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010000"/>
                </a:solidFill>
                <a:ea typeface="Calibri" pitchFamily="34" charset="-122"/>
                <a:cs typeface="Calibri" pitchFamily="34" charset="-120"/>
              </a:rPr>
              <a:t>Scan QR to </a:t>
            </a:r>
          </a:p>
          <a:p>
            <a:pPr marL="0" indent="0" algn="ctr">
              <a:buNone/>
            </a:pPr>
            <a:r>
              <a:rPr lang="en-US" sz="900" b="1">
                <a:solidFill>
                  <a:srgbClr val="010000"/>
                </a:solidFill>
                <a:ea typeface="Calibri" pitchFamily="34" charset="-122"/>
                <a:cs typeface="Calibri" pitchFamily="34" charset="-120"/>
              </a:rPr>
              <a:t>download  the APK</a:t>
            </a:r>
            <a:endParaRPr lang="en-US" sz="900" b="1">
              <a:solidFill>
                <a:srgbClr val="01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7A0B1-2D12-F269-CA1D-7DA60A2B8AF9}"/>
              </a:ext>
            </a:extLst>
          </p:cNvPr>
          <p:cNvSpPr txBox="1"/>
          <p:nvPr/>
        </p:nvSpPr>
        <p:spPr>
          <a:xfrm>
            <a:off x="10117236" y="5174101"/>
            <a:ext cx="2148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1. Patient Login</a:t>
            </a:r>
          </a:p>
          <a:p>
            <a:r>
              <a:rPr lang="en-US" sz="1000"/>
              <a:t>2. SOS / Emergency</a:t>
            </a:r>
          </a:p>
          <a:p>
            <a:r>
              <a:rPr lang="en-US" sz="1000"/>
              <a:t>3. Al Triage</a:t>
            </a:r>
          </a:p>
          <a:p>
            <a:r>
              <a:rPr lang="en-US" sz="1000"/>
              <a:t>4. Nearby Emergency Alert</a:t>
            </a:r>
          </a:p>
          <a:p>
            <a:r>
              <a:rPr lang="en-US" sz="1000"/>
              <a:t>5. Emergency Contact Alert</a:t>
            </a:r>
          </a:p>
          <a:p>
            <a:r>
              <a:rPr lang="en-US" sz="1000"/>
              <a:t>6. Hospital / Ambulance Coordination</a:t>
            </a:r>
          </a:p>
          <a:p>
            <a:r>
              <a:rPr lang="en-US" sz="1000"/>
              <a:t>7. Live Tracking</a:t>
            </a:r>
          </a:p>
          <a:p>
            <a:r>
              <a:rPr lang="en-US" sz="1000"/>
              <a:t>8. Hospital / Doctor</a:t>
            </a:r>
            <a:endParaRPr lang="en-IN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D7D25E-89AB-24D7-F961-30FC024B10B1}"/>
              </a:ext>
            </a:extLst>
          </p:cNvPr>
          <p:cNvSpPr txBox="1"/>
          <p:nvPr/>
        </p:nvSpPr>
        <p:spPr>
          <a:xfrm>
            <a:off x="6506145" y="3664731"/>
            <a:ext cx="7660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Gemini </a:t>
            </a:r>
            <a:endParaRPr lang="en-IN" sz="1000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814483-165F-FF18-3D53-990CD4112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0" y="739228"/>
            <a:ext cx="7483488" cy="45120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8BC58C-0846-01F0-5C08-EA784490D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06" t="3594" r="906" b="6430"/>
          <a:stretch>
            <a:fillRect/>
          </a:stretch>
        </p:blipFill>
        <p:spPr>
          <a:xfrm>
            <a:off x="-20282" y="5220060"/>
            <a:ext cx="7403182" cy="12565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C66A2E-5CFC-B88C-FC70-D50F9B981C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967" y="699504"/>
            <a:ext cx="4580803" cy="42388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9B8459-7D46-A857-C10B-23A1ED6FC8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91" t="7736" r="7501" b="7565"/>
          <a:stretch>
            <a:fillRect/>
          </a:stretch>
        </p:blipFill>
        <p:spPr>
          <a:xfrm>
            <a:off x="7801974" y="5201184"/>
            <a:ext cx="940881" cy="912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AE4669-2E53-0519-51CB-642FF04723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289" y="5202446"/>
            <a:ext cx="971913" cy="910090"/>
          </a:xfrm>
          <a:prstGeom prst="rect">
            <a:avLst/>
          </a:prstGeom>
        </p:spPr>
      </p:pic>
      <p:sp>
        <p:nvSpPr>
          <p:cNvPr id="211" name="Rectangle 210">
            <a:hlinkClick r:id="rId9"/>
          </p:cNvPr>
          <p:cNvSpPr/>
          <p:nvPr/>
        </p:nvSpPr>
        <p:spPr>
          <a:xfrm>
            <a:off x="7747000" y="5143500"/>
            <a:ext cx="1079500" cy="1206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>
            <a:hlinkClick r:id="rId10"/>
          </p:cNvPr>
          <p:cNvSpPr/>
          <p:nvPr/>
        </p:nvSpPr>
        <p:spPr>
          <a:xfrm>
            <a:off x="8953500" y="5143500"/>
            <a:ext cx="1079500" cy="1206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1010872" y="137160"/>
            <a:ext cx="1142997" cy="335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80"/>
          </a:p>
        </p:txBody>
      </p:sp>
      <p:sp>
        <p:nvSpPr>
          <p:cNvPr id="6" name="Text 4"/>
          <p:cNvSpPr txBox="1"/>
          <p:nvPr/>
        </p:nvSpPr>
        <p:spPr>
          <a:xfrm>
            <a:off x="3048023" y="42637"/>
            <a:ext cx="9143977" cy="47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  <a:endParaRPr lang="en-US" sz="3200"/>
          </a:p>
        </p:txBody>
      </p:sp>
      <p:sp>
        <p:nvSpPr>
          <p:cNvPr id="107" name="Text 105"/>
          <p:cNvSpPr txBox="1"/>
          <p:nvPr/>
        </p:nvSpPr>
        <p:spPr>
          <a:xfrm>
            <a:off x="8381979" y="5120627"/>
            <a:ext cx="228599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60"/>
          </a:p>
        </p:txBody>
      </p:sp>
      <p:sp>
        <p:nvSpPr>
          <p:cNvPr id="117" name="Shape 115"/>
          <p:cNvSpPr/>
          <p:nvPr/>
        </p:nvSpPr>
        <p:spPr>
          <a:xfrm>
            <a:off x="-22860" y="6446503"/>
            <a:ext cx="12214860" cy="441960"/>
          </a:xfrm>
          <a:prstGeom prst="roundRect">
            <a:avLst>
              <a:gd name="adj" fmla="val 20588"/>
            </a:avLst>
          </a:prstGeom>
          <a:solidFill>
            <a:srgbClr val="0B2A5B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3366" y="6446503"/>
            <a:ext cx="1192096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</a:t>
            </a:r>
            <a:r>
              <a:rPr lang="en-US" sz="13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designed as a modular platform that can evolve from emergency coordination</a:t>
            </a:r>
            <a:r>
              <a:rPr lang="en-US" sz="1380"/>
              <a:t> </a:t>
            </a:r>
            <a:r>
              <a:rPr lang="en-US" sz="138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broader public-health access ecosystem.</a:t>
            </a:r>
            <a:endParaRPr lang="en-US" sz="1380"/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03D8342F-63B1-C2CE-0A26-E44321EA4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917" b="19818"/>
          <a:stretch>
            <a:fillRect/>
          </a:stretch>
        </p:blipFill>
        <p:spPr>
          <a:xfrm>
            <a:off x="305" y="4629665"/>
            <a:ext cx="12191695" cy="1783819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0FADE25B-9085-7FDA-CC8D-FF48A2347F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0" t="2737" r="2111" b="8386"/>
          <a:stretch>
            <a:fillRect/>
          </a:stretch>
        </p:blipFill>
        <p:spPr>
          <a:xfrm>
            <a:off x="6625058" y="725396"/>
            <a:ext cx="5481289" cy="3691949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EE035C2-924F-82EC-B124-41CC682F76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53" y="34839"/>
            <a:ext cx="1569717" cy="657539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C88C55F2-6893-B943-EB74-AE427D50A6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624" t="84570" r="77586" b="8465"/>
          <a:stretch>
            <a:fillRect/>
          </a:stretch>
        </p:blipFill>
        <p:spPr>
          <a:xfrm>
            <a:off x="7020439" y="3630799"/>
            <a:ext cx="243841" cy="265647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34B527A3-E4D0-3FA4-A369-5D546728D1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293" t="84111" r="68007" b="8455"/>
          <a:stretch>
            <a:fillRect/>
          </a:stretch>
        </p:blipFill>
        <p:spPr>
          <a:xfrm>
            <a:off x="8094163" y="3395900"/>
            <a:ext cx="262078" cy="26564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7DEC2741-E923-E89C-A692-32AE21F336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967" t="83428" r="68021" b="8551"/>
          <a:stretch>
            <a:fillRect/>
          </a:stretch>
        </p:blipFill>
        <p:spPr>
          <a:xfrm>
            <a:off x="9014234" y="3211200"/>
            <a:ext cx="391437" cy="317524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DA929317-BE9C-B93B-68C7-81E746CD36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888" t="83211" r="57447" b="8674"/>
          <a:stretch>
            <a:fillRect/>
          </a:stretch>
        </p:blipFill>
        <p:spPr>
          <a:xfrm>
            <a:off x="10016812" y="2874445"/>
            <a:ext cx="529241" cy="436186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39D948A6-E64F-1BE2-97F1-54C930AA07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391" t="82624" r="36486" b="8554"/>
          <a:stretch>
            <a:fillRect/>
          </a:stretch>
        </p:blipFill>
        <p:spPr>
          <a:xfrm>
            <a:off x="11157194" y="2350444"/>
            <a:ext cx="543841" cy="539722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CC65A0D7-B101-E068-4364-6FF29B43C1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77" t="83740" r="88424" b="5557"/>
          <a:stretch>
            <a:fillRect/>
          </a:stretch>
        </p:blipFill>
        <p:spPr>
          <a:xfrm>
            <a:off x="6755027" y="799756"/>
            <a:ext cx="570213" cy="4498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3C0856E-C704-604C-C34B-48FAC1E15B6C}"/>
                  </a:ext>
                </a:extLst>
              </p14:cNvPr>
              <p14:cNvContentPartPr/>
              <p14:nvPr/>
            </p14:nvContentPartPr>
            <p14:xfrm>
              <a:off x="4052809" y="4810696"/>
              <a:ext cx="3889080" cy="7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3C0856E-C704-604C-C34B-48FAC1E15B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89809" y="4684696"/>
                <a:ext cx="40147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A47773E-3768-9B11-4DA4-871C8D2355EE}"/>
                  </a:ext>
                </a:extLst>
              </p14:cNvPr>
              <p14:cNvContentPartPr/>
              <p14:nvPr/>
            </p14:nvContentPartPr>
            <p14:xfrm>
              <a:off x="3887929" y="4811056"/>
              <a:ext cx="41760" cy="165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A47773E-3768-9B11-4DA4-871C8D2355E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24929" y="4746656"/>
                <a:ext cx="167400" cy="144992"/>
              </a:xfrm>
              <a:prstGeom prst="rect">
                <a:avLst/>
              </a:prstGeom>
            </p:spPr>
          </p:pic>
        </mc:Fallback>
      </mc:AlternateContent>
      <p:pic>
        <p:nvPicPr>
          <p:cNvPr id="180" name="Picture 179">
            <a:extLst>
              <a:ext uri="{FF2B5EF4-FFF2-40B4-BE49-F238E27FC236}">
                <a16:creationId xmlns:a16="http://schemas.microsoft.com/office/drawing/2014/main" id="{359BA543-FD89-4837-89EE-0BC72EB7F6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818" t="91730" r="1948" b="2594"/>
          <a:stretch>
            <a:fillRect/>
          </a:stretch>
        </p:blipFill>
        <p:spPr>
          <a:xfrm>
            <a:off x="6425514" y="4417345"/>
            <a:ext cx="5568879" cy="617113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52DD801C-0775-FDC8-805E-EAA2A65771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966" y="610945"/>
            <a:ext cx="6408551" cy="4042096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8D1F0E3-602A-BECC-573A-A4E7D25AAB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" y="41118"/>
            <a:ext cx="1247052" cy="6583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Life Line Coders</a:t>
            </a:r>
            <a:endParaRPr lang="en-IN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ounded Rectangle 59"/>
          <p:cNvSpPr/>
          <p:nvPr/>
        </p:nvSpPr>
        <p:spPr>
          <a:xfrm>
            <a:off x="174930" y="3666745"/>
            <a:ext cx="5804452" cy="2707967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9684" y="3694107"/>
            <a:ext cx="3246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Poppins"/>
              </a:rPr>
              <a:t>✦  IMPACT ON THE AUDIENCE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5530" y="4040015"/>
            <a:ext cx="55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Patient — </a:t>
            </a:r>
            <a:r>
              <a:rPr sz="1000">
                <a:solidFill>
                  <a:srgbClr val="1A1A1A"/>
                </a:solidFill>
                <a:latin typeface="Poppins"/>
              </a:rPr>
              <a:t>Faster healthcare access; nearby emergency alerts; emergency-contact alerts; emergency &amp; hospital coordination; doctor/appointment access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5530" y="4399529"/>
            <a:ext cx="5470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Doctor — </a:t>
            </a:r>
            <a:r>
              <a:rPr sz="1000">
                <a:solidFill>
                  <a:srgbClr val="1A1A1A"/>
                </a:solidFill>
                <a:latin typeface="Poppins"/>
              </a:rPr>
              <a:t>Better patient information; appointment / queue visibility; referral coordination; digital consultation support.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293" y="4758530"/>
            <a:ext cx="55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Hospital — </a:t>
            </a:r>
            <a:r>
              <a:rPr sz="1000">
                <a:solidFill>
                  <a:srgbClr val="1A1A1A"/>
                </a:solidFill>
                <a:latin typeface="Poppins"/>
              </a:rPr>
              <a:t>Incoming emergency coordination; patient / referral visibility; diagnostic coordination; medicine / resource visibility.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1157" y="5121754"/>
            <a:ext cx="55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Ambulance — </a:t>
            </a:r>
            <a:r>
              <a:rPr sz="1000">
                <a:solidFill>
                  <a:srgbClr val="1A1A1A"/>
                </a:solidFill>
                <a:latin typeface="Poppins"/>
              </a:rPr>
              <a:t>Emergency assignment; patient pickup information; destination visibility; trip status.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188" y="5477880"/>
            <a:ext cx="55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ASHA / ANM — </a:t>
            </a:r>
            <a:r>
              <a:rPr sz="1000">
                <a:solidFill>
                  <a:srgbClr val="1A1A1A"/>
                </a:solidFill>
                <a:latin typeface="Poppins"/>
              </a:rPr>
              <a:t>Community healthcare support; access assistance; follow-up support; low-connectivity workflow.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6587" y="5849489"/>
            <a:ext cx="55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Public Health System — </a:t>
            </a:r>
            <a:r>
              <a:rPr sz="1000">
                <a:solidFill>
                  <a:srgbClr val="1A1A1A"/>
                </a:solidFill>
                <a:latin typeface="Poppins"/>
              </a:rPr>
              <a:t>Coordination across facilities; referral visibility; continuity of care; digital workflows; scalable healthcare ecosystem.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81318" y="3685032"/>
            <a:ext cx="5561540" cy="26896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9" name="TextBox 68"/>
          <p:cNvSpPr txBox="1"/>
          <p:nvPr/>
        </p:nvSpPr>
        <p:spPr>
          <a:xfrm>
            <a:off x="6675120" y="3694107"/>
            <a:ext cx="35204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Poppins"/>
              </a:rPr>
              <a:t>✦  BENEFITS OF THE SOLUTION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4579" y="4041388"/>
            <a:ext cx="52550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Social — </a:t>
            </a:r>
            <a:r>
              <a:rPr sz="1000">
                <a:solidFill>
                  <a:srgbClr val="1A1A1A"/>
                </a:solidFill>
                <a:latin typeface="Poppins"/>
              </a:rPr>
              <a:t>Better healthcare access and coordinated emergency response across patients, frontline workers, doctors, hospitals and emergency services.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28816" y="4460165"/>
            <a:ext cx="5488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Emergency — </a:t>
            </a:r>
            <a:r>
              <a:rPr sz="1000">
                <a:solidFill>
                  <a:srgbClr val="1A1A1A"/>
                </a:solidFill>
                <a:latin typeface="Poppins"/>
              </a:rPr>
              <a:t>Nearby alerts, emergency-contact alerts, ambulance and hospital coordination</a:t>
            </a:r>
            <a:r>
              <a:rPr sz="78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28816" y="4837176"/>
            <a:ext cx="5414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Operational — </a:t>
            </a:r>
            <a:r>
              <a:rPr sz="1000">
                <a:solidFill>
                  <a:srgbClr val="1A1A1A"/>
                </a:solidFill>
                <a:latin typeface="Poppins"/>
              </a:rPr>
              <a:t>Connected provider workflows for appointments, queues, referrals and emergency coordination.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6889" y="5263178"/>
            <a:ext cx="4956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Continuity — </a:t>
            </a:r>
            <a:r>
              <a:rPr sz="1000">
                <a:solidFill>
                  <a:srgbClr val="1A1A1A"/>
                </a:solidFill>
                <a:latin typeface="Poppins"/>
              </a:rPr>
              <a:t>Health Record → Referral → Follow-up after treatment</a:t>
            </a:r>
            <a:r>
              <a:rPr sz="78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34579" y="5554134"/>
            <a:ext cx="54025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Access — </a:t>
            </a:r>
            <a:r>
              <a:rPr sz="1000">
                <a:solidFill>
                  <a:srgbClr val="1A1A1A"/>
                </a:solidFill>
                <a:latin typeface="Poppins"/>
              </a:rPr>
              <a:t>Provider discovery, doctor / appointment access and broader healthcare access modules.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579" y="6002369"/>
            <a:ext cx="52550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Poppins"/>
              </a:rPr>
              <a:t>Scalability — </a:t>
            </a:r>
            <a:r>
              <a:rPr sz="1000">
                <a:solidFill>
                  <a:srgbClr val="1A1A1A"/>
                </a:solidFill>
                <a:latin typeface="Poppins"/>
              </a:rPr>
              <a:t>Community → PHC → Rural → District → wider healthcare network</a:t>
            </a:r>
            <a:r>
              <a:rPr sz="78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026C73-AF4A-D522-DF28-153FF113DC42}"/>
              </a:ext>
            </a:extLst>
          </p:cNvPr>
          <p:cNvSpPr txBox="1"/>
          <p:nvPr/>
        </p:nvSpPr>
        <p:spPr>
          <a:xfrm>
            <a:off x="3941064" y="-1193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  <a:endParaRPr lang="en-US" sz="3200"/>
          </a:p>
        </p:txBody>
      </p:sp>
      <p:sp>
        <p:nvSpPr>
          <p:cNvPr id="86" name="Shape 101">
            <a:extLst>
              <a:ext uri="{FF2B5EF4-FFF2-40B4-BE49-F238E27FC236}">
                <a16:creationId xmlns:a16="http://schemas.microsoft.com/office/drawing/2014/main" id="{1678166F-2F48-69D5-E7FE-69B3A6936618}"/>
              </a:ext>
            </a:extLst>
          </p:cNvPr>
          <p:cNvSpPr/>
          <p:nvPr/>
        </p:nvSpPr>
        <p:spPr>
          <a:xfrm>
            <a:off x="-6823" y="6452435"/>
            <a:ext cx="12198823" cy="427082"/>
          </a:xfrm>
          <a:prstGeom prst="roundRect">
            <a:avLst>
              <a:gd name="adj" fmla="val 21875"/>
            </a:avLst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75BFA31-2743-6CBB-3A84-3DAACA9362AA}"/>
              </a:ext>
            </a:extLst>
          </p:cNvPr>
          <p:cNvSpPr txBox="1"/>
          <p:nvPr/>
        </p:nvSpPr>
        <p:spPr>
          <a:xfrm>
            <a:off x="174930" y="6528816"/>
            <a:ext cx="116089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Poppins"/>
              </a:rPr>
              <a:t>From emergency response to continuity of care, </a:t>
            </a:r>
            <a:r>
              <a:rPr lang="en-US" sz="1100" b="1">
                <a:solidFill>
                  <a:srgbClr val="FFC000"/>
                </a:solidFill>
                <a:latin typeface="Poppins"/>
              </a:rPr>
              <a:t>Golden Hour </a:t>
            </a:r>
            <a:r>
              <a:rPr lang="en-US" sz="1100" b="1">
                <a:solidFill>
                  <a:schemeClr val="bg1"/>
                </a:solidFill>
                <a:latin typeface="Poppins"/>
              </a:rPr>
              <a:t>connects the people and services involved in a patient's healthcare journey.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91BD48C-F35C-BB16-1947-19E6F7168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4" t="7553" r="1420" b="5531"/>
          <a:stretch>
            <a:fillRect/>
          </a:stretch>
        </p:blipFill>
        <p:spPr>
          <a:xfrm>
            <a:off x="174929" y="583582"/>
            <a:ext cx="5341949" cy="2994072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E7E2784-E924-D804-96D8-877055601401}"/>
              </a:ext>
            </a:extLst>
          </p:cNvPr>
          <p:cNvCxnSpPr>
            <a:cxnSpLocks/>
          </p:cNvCxnSpPr>
          <p:nvPr/>
        </p:nvCxnSpPr>
        <p:spPr>
          <a:xfrm>
            <a:off x="3194436" y="1956021"/>
            <a:ext cx="0" cy="428782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Arrow: Left 105">
            <a:extLst>
              <a:ext uri="{FF2B5EF4-FFF2-40B4-BE49-F238E27FC236}">
                <a16:creationId xmlns:a16="http://schemas.microsoft.com/office/drawing/2014/main" id="{BC1F8075-A46A-E0C9-5677-F69F5A460CA7}"/>
              </a:ext>
            </a:extLst>
          </p:cNvPr>
          <p:cNvSpPr/>
          <p:nvPr/>
        </p:nvSpPr>
        <p:spPr>
          <a:xfrm>
            <a:off x="1047882" y="2087796"/>
            <a:ext cx="1273602" cy="297007"/>
          </a:xfrm>
          <a:prstGeom prst="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5D4713CF-8854-3BAE-467B-9F5873B7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92"/>
          <a:stretch>
            <a:fillRect/>
          </a:stretch>
        </p:blipFill>
        <p:spPr>
          <a:xfrm>
            <a:off x="6305384" y="610944"/>
            <a:ext cx="5637474" cy="30554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355B9D-821F-B8EF-970B-EC5ABFDC8D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286" y="34839"/>
            <a:ext cx="1472484" cy="657139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B74EC833-1113-67E3-41DD-0761D17657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" y="41118"/>
            <a:ext cx="1247052" cy="6583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Life Line Coders</a:t>
            </a:r>
            <a:endParaRPr lang="en-IN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3021965" y="4128"/>
            <a:ext cx="6924040" cy="472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200" b="1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 AND REFERENCES</a:t>
            </a:r>
            <a:r>
              <a:rPr lang="en-US" sz="3200" b="1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200"/>
          </a:p>
        </p:txBody>
      </p:sp>
      <p:sp>
        <p:nvSpPr>
          <p:cNvPr id="88" name="Text 86"/>
          <p:cNvSpPr txBox="1"/>
          <p:nvPr/>
        </p:nvSpPr>
        <p:spPr>
          <a:xfrm>
            <a:off x="9372577" y="3032752"/>
            <a:ext cx="2476494" cy="2438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40"/>
          </a:p>
        </p:txBody>
      </p:sp>
      <p:sp>
        <p:nvSpPr>
          <p:cNvPr id="92" name="Text 90"/>
          <p:cNvSpPr txBox="1"/>
          <p:nvPr/>
        </p:nvSpPr>
        <p:spPr>
          <a:xfrm>
            <a:off x="9372577" y="3368032"/>
            <a:ext cx="2438394" cy="198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40"/>
          </a:p>
        </p:txBody>
      </p:sp>
      <p:sp>
        <p:nvSpPr>
          <p:cNvPr id="134" name="Shape 132"/>
          <p:cNvSpPr/>
          <p:nvPr/>
        </p:nvSpPr>
        <p:spPr>
          <a:xfrm>
            <a:off x="0" y="6461760"/>
            <a:ext cx="12191365" cy="434340"/>
          </a:xfrm>
          <a:prstGeom prst="roundRect">
            <a:avLst>
              <a:gd name="adj" fmla="val 25926"/>
            </a:avLst>
          </a:prstGeom>
          <a:solidFill>
            <a:srgbClr val="0B2A5B"/>
          </a:solidFill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 txBox="1"/>
          <p:nvPr/>
        </p:nvSpPr>
        <p:spPr>
          <a:xfrm>
            <a:off x="145415" y="6449060"/>
            <a:ext cx="1200848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the first healthcare need to follow-up, </a:t>
            </a:r>
            <a:r>
              <a:rPr lang="en-US" sz="1260" b="1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</a:t>
            </a:r>
            <a:r>
              <a:rPr lang="en-US" sz="126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connects the journey.”</a:t>
            </a:r>
            <a:endParaRPr lang="en-US" sz="1260"/>
          </a:p>
        </p:txBody>
      </p:sp>
      <p:sp>
        <p:nvSpPr>
          <p:cNvPr id="138" name="Text Box 137"/>
          <p:cNvSpPr txBox="1"/>
          <p:nvPr/>
        </p:nvSpPr>
        <p:spPr>
          <a:xfrm>
            <a:off x="5753857" y="631882"/>
            <a:ext cx="6924040" cy="1003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l">
              <a:lnSpc>
                <a:spcPct val="100000"/>
              </a:lnSpc>
              <a:buClr>
                <a:srgbClr val="2F5597"/>
              </a:buClr>
              <a:buFont typeface="Wingdings" panose="05000000000000000000" pitchFamily="2" charset="2"/>
              <a:buChar char="q"/>
            </a:pPr>
            <a:r>
              <a:rPr lang="en-US" sz="2800">
                <a:solidFill>
                  <a:srgbClr val="002060"/>
                </a:solidFill>
                <a:cs typeface="+mn-lt"/>
              </a:rPr>
              <a:t> </a:t>
            </a:r>
            <a:r>
              <a:rPr lang="en-US" sz="2800" u="sng" err="1">
                <a:solidFill>
                  <a:srgbClr val="002060"/>
                </a:solidFill>
                <a:cs typeface="+mn-lt"/>
              </a:rPr>
              <a:t>Comparison</a:t>
            </a:r>
            <a:r>
              <a:rPr lang="en-US" sz="2800" u="sng">
                <a:solidFill>
                  <a:srgbClr val="002060"/>
                </a:solidFill>
                <a:cs typeface="+mn-lt"/>
              </a:rPr>
              <a:t> with the existing System</a:t>
            </a:r>
          </a:p>
        </p:txBody>
      </p:sp>
      <p:sp>
        <p:nvSpPr>
          <p:cNvPr id="139" name="Text Box 138"/>
          <p:cNvSpPr txBox="1"/>
          <p:nvPr/>
        </p:nvSpPr>
        <p:spPr>
          <a:xfrm>
            <a:off x="1550025" y="474840"/>
            <a:ext cx="3979545" cy="52197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0000"/>
              </a:lnSpc>
              <a:buClr>
                <a:srgbClr val="2F5597"/>
              </a:buClr>
              <a:buFont typeface="Wingdings" panose="05000000000000000000" pitchFamily="2" charset="2"/>
              <a:buChar char="q"/>
            </a:pPr>
            <a:r>
              <a:rPr lang="en-US" sz="2800" u="sng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140" name="Text Box 139"/>
          <p:cNvSpPr txBox="1"/>
          <p:nvPr/>
        </p:nvSpPr>
        <p:spPr>
          <a:xfrm>
            <a:off x="322855" y="904740"/>
            <a:ext cx="2659380" cy="569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b="1">
                <a:solidFill>
                  <a:schemeClr val="accent5">
                    <a:lumMod val="50000"/>
                  </a:schemeClr>
                </a:solidFill>
              </a:rPr>
              <a:t>Primary Data Sources</a:t>
            </a:r>
            <a:endParaRPr lang="en-US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1" name="Text Box 140"/>
          <p:cNvSpPr txBox="1"/>
          <p:nvPr/>
        </p:nvSpPr>
        <p:spPr>
          <a:xfrm>
            <a:off x="261018" y="1561836"/>
            <a:ext cx="519841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r>
              <a:rPr lang="en-IN" sz="1400">
                <a:solidFill>
                  <a:schemeClr val="accent1">
                    <a:lumMod val="75000"/>
                  </a:schemeClr>
                </a:solidFill>
              </a:rPr>
              <a:t>Smart India Hackathon 2026  - </a:t>
            </a:r>
            <a:r>
              <a:rPr lang="en-IN" sz="1200">
                <a:solidFill>
                  <a:srgbClr val="7030A0"/>
                </a:solidFill>
                <a:hlinkClick r:id="rId13"/>
              </a:rPr>
              <a:t>View Source ↗</a:t>
            </a:r>
            <a:endParaRPr lang="en-IN" sz="1200">
              <a:solidFill>
                <a:srgbClr val="7030A0"/>
              </a:solidFill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r>
              <a:rPr lang="en-IN" sz="1400">
                <a:solidFill>
                  <a:schemeClr val="accent1">
                    <a:lumMod val="75000"/>
                  </a:schemeClr>
                </a:solidFill>
              </a:rPr>
              <a:t>Ayushman Bharat Digital Mission (ABDM)</a:t>
            </a:r>
            <a:r>
              <a:rPr lang="en-IN" sz="140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IN" sz="1200">
                <a:solidFill>
                  <a:srgbClr val="7030A0"/>
                </a:solidFill>
                <a:hlinkClick r:id="rId4"/>
              </a:rPr>
              <a:t>View Source ↗</a:t>
            </a:r>
            <a:endParaRPr lang="en-IN" sz="120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r>
              <a:rPr lang="en-IN" sz="1400" err="1">
                <a:solidFill>
                  <a:schemeClr val="accent1">
                    <a:lumMod val="75000"/>
                  </a:schemeClr>
                </a:solidFill>
              </a:rPr>
              <a:t>MoHFW</a:t>
            </a:r>
            <a:r>
              <a:rPr lang="en-IN" sz="1400">
                <a:solidFill>
                  <a:schemeClr val="accent1">
                    <a:lumMod val="75000"/>
                  </a:schemeClr>
                </a:solidFill>
              </a:rPr>
              <a:t> Healthcare Guidelines </a:t>
            </a:r>
            <a:r>
              <a:rPr lang="en-IN" sz="1600">
                <a:solidFill>
                  <a:srgbClr val="7030A0"/>
                </a:solidFill>
              </a:rPr>
              <a:t>- </a:t>
            </a:r>
            <a:r>
              <a:rPr lang="en-IN" sz="1200">
                <a:solidFill>
                  <a:srgbClr val="7030A0"/>
                </a:solidFill>
                <a:hlinkClick r:id="rId14"/>
              </a:rPr>
              <a:t>View Source ↗</a:t>
            </a:r>
          </a:p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r>
              <a:rPr lang="en-IN" sz="1400">
                <a:solidFill>
                  <a:schemeClr val="accent1">
                    <a:lumMod val="75000"/>
                  </a:schemeClr>
                </a:solidFill>
              </a:rPr>
              <a:t>Telemedicine Practice Guidelines</a:t>
            </a:r>
            <a:r>
              <a:rPr lang="en-IN">
                <a:solidFill>
                  <a:srgbClr val="7030A0"/>
                </a:solidFill>
              </a:rPr>
              <a:t>-</a:t>
            </a:r>
            <a:r>
              <a:rPr lang="en-IN" sz="1200">
                <a:solidFill>
                  <a:srgbClr val="7030A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sz="1200">
                <a:solidFill>
                  <a:srgbClr val="7030A0"/>
                </a:solidFill>
                <a:hlinkClick r:id="rId15"/>
              </a:rPr>
              <a:t>View Source ↗</a:t>
            </a:r>
            <a:endParaRPr lang="en-IN" sz="120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r>
              <a:rPr lang="en-IN" sz="1400">
                <a:solidFill>
                  <a:schemeClr val="accent1">
                    <a:lumMod val="50000"/>
                  </a:schemeClr>
                </a:solidFill>
              </a:rPr>
              <a:t>Government &amp; Public Health Research</a:t>
            </a:r>
            <a:r>
              <a:rPr lang="en-IN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en-IN" sz="1200">
                <a:solidFill>
                  <a:srgbClr val="7030A0"/>
                </a:solidFill>
                <a:hlinkClick r:id="rId16"/>
              </a:rPr>
              <a:t>View Source ↗</a:t>
            </a:r>
          </a:p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endParaRPr lang="en-IN" sz="140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endParaRPr lang="en-IN" sz="1200">
              <a:solidFill>
                <a:schemeClr val="accent1">
                  <a:lumMod val="75000"/>
                </a:schemeClr>
              </a:solidFill>
            </a:endParaRPr>
          </a:p>
          <a:p>
            <a:pPr>
              <a:buClr>
                <a:srgbClr val="000000"/>
              </a:buClr>
            </a:pPr>
            <a:endParaRPr lang="en-IN" sz="120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charset="0"/>
              <a:buChar char=""/>
            </a:pPr>
            <a:endParaRPr lang="en-I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5" name="Text Box 144"/>
          <p:cNvSpPr txBox="1"/>
          <p:nvPr/>
        </p:nvSpPr>
        <p:spPr>
          <a:xfrm>
            <a:off x="213418" y="4620260"/>
            <a:ext cx="411289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Clr>
                <a:srgbClr val="2F5597"/>
              </a:buClr>
              <a:buFont typeface="Wingdings" panose="05000000000000000000" pitchFamily="2" charset="2"/>
              <a:buChar char="q"/>
            </a:pPr>
            <a:r>
              <a:rPr lang="en-US" sz="2800" u="sng">
                <a:solidFill>
                  <a:srgbClr val="002060"/>
                </a:solidFill>
              </a:rPr>
              <a:t>Research Workflow</a:t>
            </a:r>
            <a:endParaRPr lang="en-US" u="sng">
              <a:solidFill>
                <a:srgbClr val="002060"/>
              </a:solidFill>
            </a:endParaRPr>
          </a:p>
          <a:p>
            <a:endParaRPr lang="en-US" u="sng">
              <a:solidFill>
                <a:srgbClr val="002060"/>
              </a:solidFill>
            </a:endParaRPr>
          </a:p>
        </p:txBody>
      </p:sp>
      <p:pic>
        <p:nvPicPr>
          <p:cNvPr id="152" name="Picture 151"/>
          <p:cNvPicPr>
            <a:picLocks noChangeAspect="1"/>
          </p:cNvPicPr>
          <p:nvPr/>
        </p:nvPicPr>
        <p:blipFill>
          <a:blip r:embed="rId5"/>
          <a:srcRect l="27502" t="29102" r="22564" b="16426"/>
          <a:stretch>
            <a:fillRect/>
          </a:stretch>
        </p:blipFill>
        <p:spPr>
          <a:xfrm>
            <a:off x="6185594" y="1286243"/>
            <a:ext cx="5683551" cy="4798502"/>
          </a:xfrm>
          <a:prstGeom prst="rect">
            <a:avLst/>
          </a:prstGeom>
        </p:spPr>
      </p:pic>
      <p:pic>
        <p:nvPicPr>
          <p:cNvPr id="160" name="Picture 159" descr="Code_Generated_Image"/>
          <p:cNvPicPr>
            <a:picLocks noChangeAspect="1"/>
          </p:cNvPicPr>
          <p:nvPr/>
        </p:nvPicPr>
        <p:blipFill>
          <a:blip r:embed="rId6"/>
          <a:srcRect l="3185" t="3944" r="3334" b="67653"/>
          <a:stretch>
            <a:fillRect/>
          </a:stretch>
        </p:blipFill>
        <p:spPr>
          <a:xfrm>
            <a:off x="228600" y="5121910"/>
            <a:ext cx="5276215" cy="524510"/>
          </a:xfrm>
          <a:prstGeom prst="rect">
            <a:avLst/>
          </a:prstGeom>
        </p:spPr>
      </p:pic>
      <p:sp>
        <p:nvSpPr>
          <p:cNvPr id="161" name="Text Box 160"/>
          <p:cNvSpPr txBox="1"/>
          <p:nvPr/>
        </p:nvSpPr>
        <p:spPr>
          <a:xfrm>
            <a:off x="370536" y="5166360"/>
            <a:ext cx="75184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1000" b="1">
                <a:solidFill>
                  <a:schemeClr val="bg1"/>
                </a:solidFill>
              </a:rPr>
              <a:t>Problem Analysis</a:t>
            </a:r>
          </a:p>
        </p:txBody>
      </p:sp>
      <p:sp>
        <p:nvSpPr>
          <p:cNvPr id="162" name="Text Box 161"/>
          <p:cNvSpPr txBox="1"/>
          <p:nvPr/>
        </p:nvSpPr>
        <p:spPr>
          <a:xfrm>
            <a:off x="1225938" y="5207558"/>
            <a:ext cx="1217930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1000" b="1">
                <a:solidFill>
                  <a:schemeClr val="bg1"/>
                </a:solidFill>
              </a:rPr>
              <a:t>Review of Current</a:t>
            </a:r>
          </a:p>
          <a:p>
            <a:pPr algn="ctr"/>
            <a:r>
              <a:rPr lang="en-US" altLang="en-US" sz="1000" b="1">
                <a:solidFill>
                  <a:schemeClr val="bg1"/>
                </a:solidFill>
              </a:rPr>
              <a:t>Efforts</a:t>
            </a:r>
          </a:p>
        </p:txBody>
      </p:sp>
      <p:sp>
        <p:nvSpPr>
          <p:cNvPr id="163" name="Text Box 162"/>
          <p:cNvSpPr txBox="1"/>
          <p:nvPr/>
        </p:nvSpPr>
        <p:spPr>
          <a:xfrm>
            <a:off x="2404605" y="5204142"/>
            <a:ext cx="839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000" b="1">
                <a:solidFill>
                  <a:schemeClr val="bg1"/>
                </a:solidFill>
              </a:rPr>
              <a:t>Solution Blueprint</a:t>
            </a:r>
          </a:p>
        </p:txBody>
      </p:sp>
      <p:sp>
        <p:nvSpPr>
          <p:cNvPr id="166" name="Text Box 165"/>
          <p:cNvSpPr txBox="1"/>
          <p:nvPr/>
        </p:nvSpPr>
        <p:spPr>
          <a:xfrm>
            <a:off x="3328916" y="5199072"/>
            <a:ext cx="114236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1000" b="1">
                <a:solidFill>
                  <a:schemeClr val="bg1"/>
                </a:solidFill>
              </a:rPr>
              <a:t>Challenge</a:t>
            </a:r>
          </a:p>
          <a:p>
            <a:pPr algn="ctr"/>
            <a:r>
              <a:rPr lang="en-US" altLang="en-US" sz="1000" b="1">
                <a:solidFill>
                  <a:schemeClr val="bg1"/>
                </a:solidFill>
              </a:rPr>
              <a:t>Assessment</a:t>
            </a:r>
          </a:p>
        </p:txBody>
      </p:sp>
      <p:sp>
        <p:nvSpPr>
          <p:cNvPr id="167" name="Text Box 166"/>
          <p:cNvSpPr txBox="1"/>
          <p:nvPr/>
        </p:nvSpPr>
        <p:spPr>
          <a:xfrm>
            <a:off x="4536371" y="5180965"/>
            <a:ext cx="8502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000" b="1">
                <a:solidFill>
                  <a:schemeClr val="bg1"/>
                </a:solidFill>
              </a:rPr>
              <a:t>Actionable Roadmap</a:t>
            </a:r>
          </a:p>
        </p:txBody>
      </p:sp>
      <p:cxnSp>
        <p:nvCxnSpPr>
          <p:cNvPr id="169" name="Straight Arrow Connector 168"/>
          <p:cNvCxnSpPr/>
          <p:nvPr/>
        </p:nvCxnSpPr>
        <p:spPr>
          <a:xfrm>
            <a:off x="774700" y="5626100"/>
            <a:ext cx="0" cy="165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/>
          <p:nvPr/>
        </p:nvCxnSpPr>
        <p:spPr>
          <a:xfrm>
            <a:off x="1858010" y="5626100"/>
            <a:ext cx="0" cy="165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>
            <a:off x="2922905" y="5626100"/>
            <a:ext cx="0" cy="165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>
            <a:off x="3954145" y="5626100"/>
            <a:ext cx="0" cy="165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>
            <a:off x="4985385" y="5626100"/>
            <a:ext cx="0" cy="1651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3D38341-DB69-F943-BE1A-5B6ED79F40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053" y="34839"/>
            <a:ext cx="1569717" cy="6575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378979-E373-4D5A-E94E-B35D34FA610A}"/>
              </a:ext>
            </a:extLst>
          </p:cNvPr>
          <p:cNvSpPr txBox="1"/>
          <p:nvPr/>
        </p:nvSpPr>
        <p:spPr>
          <a:xfrm>
            <a:off x="213418" y="5783302"/>
            <a:ext cx="10848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Rural &amp; underserved healthcare gaps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E3DA9-3EBB-F8C3-69EB-C4E678225088}"/>
              </a:ext>
            </a:extLst>
          </p:cNvPr>
          <p:cNvSpPr txBox="1"/>
          <p:nvPr/>
        </p:nvSpPr>
        <p:spPr>
          <a:xfrm>
            <a:off x="1358119" y="5725684"/>
            <a:ext cx="10323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Existing digital-health &amp; healthcare workflows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AB28E-3588-A985-03D5-E74C40450DF9}"/>
              </a:ext>
            </a:extLst>
          </p:cNvPr>
          <p:cNvSpPr txBox="1"/>
          <p:nvPr/>
        </p:nvSpPr>
        <p:spPr>
          <a:xfrm>
            <a:off x="2355324" y="5725684"/>
            <a:ext cx="1074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AI-assisted connected healthcare journey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BA474-7E3D-D4BA-863A-7CEAFFE3F6DA}"/>
              </a:ext>
            </a:extLst>
          </p:cNvPr>
          <p:cNvSpPr txBox="1"/>
          <p:nvPr/>
        </p:nvSpPr>
        <p:spPr>
          <a:xfrm>
            <a:off x="3429636" y="5748411"/>
            <a:ext cx="10323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• Connectivity </a:t>
            </a:r>
          </a:p>
          <a:p>
            <a:pPr algn="ctr"/>
            <a:r>
              <a:rPr lang="en-IN" sz="1000"/>
              <a:t>• Safety • Data • Adoption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723C27-D565-64FE-64AF-0F308D44AA8F}"/>
              </a:ext>
            </a:extLst>
          </p:cNvPr>
          <p:cNvSpPr txBox="1"/>
          <p:nvPr/>
        </p:nvSpPr>
        <p:spPr>
          <a:xfrm>
            <a:off x="4350428" y="5715724"/>
            <a:ext cx="1179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• Low-connectivity </a:t>
            </a:r>
          </a:p>
          <a:p>
            <a:pPr algn="ctr"/>
            <a:r>
              <a:rPr lang="en-IN" sz="1000"/>
              <a:t>• Healthcare-network expansion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F0103538-349E-06FD-8038-0417CF9F1C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5720" y="41118"/>
            <a:ext cx="1247052" cy="55039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Life Line Coders</a:t>
            </a:r>
            <a:endParaRPr lang="en-IN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26FA8-9510-5E8A-31CE-98596C4218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511" y="1232411"/>
            <a:ext cx="5642907" cy="22636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942D77-935F-556F-E4C1-E077F776E56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7984" b="19488"/>
          <a:stretch>
            <a:fillRect/>
          </a:stretch>
        </p:blipFill>
        <p:spPr>
          <a:xfrm>
            <a:off x="135229" y="3463320"/>
            <a:ext cx="5683550" cy="11519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A9FB854-89BE-5424-0C74-6F8BC30AA1B9}"/>
              </a:ext>
            </a:extLst>
          </p:cNvPr>
          <p:cNvSpPr txBox="1"/>
          <p:nvPr/>
        </p:nvSpPr>
        <p:spPr>
          <a:xfrm>
            <a:off x="718370" y="4359844"/>
            <a:ext cx="55771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>
                <a:hlinkClick r:id="rId10"/>
              </a:rPr>
              <a:t>https://drive.google.com/file/d/1DjNVllfmDO0dMCmqSco1yLzNUFJ_s1Ie/view?usp=drivesdk</a:t>
            </a:r>
            <a:r>
              <a:rPr lang="en-IN" sz="1000"/>
              <a:t>                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212032-76CA-6D57-67E6-02F176FE8543}"/>
              </a:ext>
            </a:extLst>
          </p:cNvPr>
          <p:cNvSpPr txBox="1"/>
          <p:nvPr/>
        </p:nvSpPr>
        <p:spPr>
          <a:xfrm>
            <a:off x="717379" y="4027261"/>
            <a:ext cx="51732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>
                <a:hlinkClick r:id="rId11"/>
              </a:rPr>
              <a:t>https://drive.google.com/file/d/13T6n8MtCcO78936hAwHKXWWar8z5qT0l/view?usp=drivesdk</a:t>
            </a:r>
            <a:endParaRPr lang="en-IN" sz="10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7680C0-BC3F-26D5-6E9F-BA210A12830C}"/>
              </a:ext>
            </a:extLst>
          </p:cNvPr>
          <p:cNvSpPr txBox="1"/>
          <p:nvPr/>
        </p:nvSpPr>
        <p:spPr>
          <a:xfrm>
            <a:off x="1412715" y="3568903"/>
            <a:ext cx="30203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>
                <a:hlinkClick r:id="rId12"/>
              </a:rPr>
              <a:t>https://github.com/akshat9335/GoldenHourApp.git</a:t>
            </a:r>
            <a:endParaRPr lang="en-IN" sz="105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2A05A26-2D0B-4518-2A89-2CCA4E871613}"/>
              </a:ext>
            </a:extLst>
          </p:cNvPr>
          <p:cNvCxnSpPr>
            <a:cxnSpLocks/>
          </p:cNvCxnSpPr>
          <p:nvPr/>
        </p:nvCxnSpPr>
        <p:spPr>
          <a:xfrm>
            <a:off x="322855" y="3488296"/>
            <a:ext cx="54310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1917C72-E368-7EC3-07CD-D8621FB3F3C9}"/>
              </a:ext>
            </a:extLst>
          </p:cNvPr>
          <p:cNvCxnSpPr/>
          <p:nvPr/>
        </p:nvCxnSpPr>
        <p:spPr>
          <a:xfrm>
            <a:off x="322855" y="4639305"/>
            <a:ext cx="54310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tangle 174">
            <a:hlinkClick r:id="rId13"/>
          </p:cNvPr>
          <p:cNvSpPr/>
          <p:nvPr/>
        </p:nvSpPr>
        <p:spPr>
          <a:xfrm>
            <a:off x="200025" y="1219200"/>
            <a:ext cx="5638800" cy="571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>
            <a:hlinkClick r:id="rId4"/>
          </p:cNvPr>
          <p:cNvSpPr/>
          <p:nvPr/>
        </p:nvSpPr>
        <p:spPr>
          <a:xfrm>
            <a:off x="200025" y="1790700"/>
            <a:ext cx="5638800" cy="571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>
            <a:hlinkClick r:id="rId17"/>
          </p:cNvPr>
          <p:cNvSpPr/>
          <p:nvPr/>
        </p:nvSpPr>
        <p:spPr>
          <a:xfrm>
            <a:off x="200025" y="2362200"/>
            <a:ext cx="5638800" cy="571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>
            <a:hlinkClick r:id="rId15"/>
          </p:cNvPr>
          <p:cNvSpPr/>
          <p:nvPr/>
        </p:nvSpPr>
        <p:spPr>
          <a:xfrm>
            <a:off x="200025" y="2927350"/>
            <a:ext cx="5638800" cy="571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>
            <a:hlinkClick r:id="rId12"/>
          </p:cNvPr>
          <p:cNvSpPr/>
          <p:nvPr/>
        </p:nvSpPr>
        <p:spPr>
          <a:xfrm>
            <a:off x="200025" y="3498850"/>
            <a:ext cx="5638800" cy="4127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>
            <a:hlinkClick r:id="rId11"/>
          </p:cNvPr>
          <p:cNvSpPr/>
          <p:nvPr/>
        </p:nvSpPr>
        <p:spPr>
          <a:xfrm>
            <a:off x="200025" y="3911600"/>
            <a:ext cx="5638800" cy="4064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>
            <a:hlinkClick r:id="rId10"/>
          </p:cNvPr>
          <p:cNvSpPr/>
          <p:nvPr/>
        </p:nvSpPr>
        <p:spPr>
          <a:xfrm>
            <a:off x="200025" y="4292600"/>
            <a:ext cx="5638800" cy="4064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AKSHAT SRIVASTAVA</cp:lastModifiedBy>
  <cp:revision>1</cp:revision>
  <dcterms:created xsi:type="dcterms:W3CDTF">2013-12-12T18:46:50Z</dcterms:created>
  <dcterms:modified xsi:type="dcterms:W3CDTF">2026-10-04T19:00:54Z</dcterms:modified>
  <cp:category/>
</cp:coreProperties>
</file>